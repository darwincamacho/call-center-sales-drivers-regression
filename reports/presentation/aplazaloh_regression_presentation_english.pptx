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2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28016"/>
            <a:ext cx="3584448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1">
                <a:solidFill>
                  <a:srgbClr val="FFFFFF"/>
                </a:solidFill>
                <a:latin typeface="Aptos"/>
              </a:rPr>
              <a:t>APLAZALOH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493776"/>
            <a:ext cx="3584448" cy="31272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80" b="0">
                <a:solidFill>
                  <a:srgbClr val="D2DCE8"/>
                </a:solidFill>
                <a:latin typeface="Aptos"/>
              </a:rPr>
              <a:t>Call Center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325880"/>
            <a:ext cx="60350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3600" b="1">
                <a:solidFill>
                  <a:srgbClr val="122D50"/>
                </a:solidFill>
                <a:latin typeface="Aptos"/>
              </a:rPr>
              <a:t>Sales Drivers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5152" y="1920240"/>
            <a:ext cx="603504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1700" b="0">
                <a:solidFill>
                  <a:srgbClr val="5A6673"/>
                </a:solidFill>
                <a:latin typeface="Aptos"/>
              </a:rPr>
              <a:t>Linear regression report translated into operational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971800"/>
            <a:ext cx="214884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2971800"/>
            <a:ext cx="73152" cy="10972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19472" y="3099816"/>
            <a:ext cx="1709928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1">
                <a:solidFill>
                  <a:srgbClr val="122D50"/>
                </a:solidFill>
                <a:latin typeface="Aptos"/>
              </a:rPr>
              <a:t>Driver #1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3465576"/>
            <a:ext cx="1709928" cy="4937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19" b="0">
                <a:solidFill>
                  <a:srgbClr val="202224"/>
                </a:solidFill>
                <a:latin typeface="Aptos"/>
              </a:rPr>
              <a:t>Effective talk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2971800"/>
            <a:ext cx="214884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86600" y="2971800"/>
            <a:ext cx="73152" cy="1097280"/>
          </a:xfrm>
          <a:prstGeom prst="rect">
            <a:avLst/>
          </a:prstGeom>
          <a:solidFill>
            <a:srgbClr val="F58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2" y="3099816"/>
            <a:ext cx="1709928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1">
                <a:solidFill>
                  <a:srgbClr val="122D50"/>
                </a:solidFill>
                <a:latin typeface="Aptos"/>
              </a:rPr>
              <a:t>Friction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2632" y="3465576"/>
            <a:ext cx="1709928" cy="4937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19" b="0">
                <a:solidFill>
                  <a:srgbClr val="202224"/>
                </a:solidFill>
                <a:latin typeface="Aptos"/>
              </a:rPr>
              <a:t>High ACW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2971800"/>
            <a:ext cx="192024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09760" y="2971800"/>
            <a:ext cx="73152" cy="109728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65792" y="3099816"/>
            <a:ext cx="1481328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1">
                <a:solidFill>
                  <a:srgbClr val="122D50"/>
                </a:solidFill>
                <a:latin typeface="Aptos"/>
              </a:rPr>
              <a:t>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5792" y="3465576"/>
            <a:ext cx="1481328" cy="4937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0">
                <a:solidFill>
                  <a:srgbClr val="202224"/>
                </a:solidFill>
                <a:latin typeface="Aptos"/>
              </a:rPr>
              <a:t>Daily supervision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800600"/>
            <a:ext cx="66751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1800" b="1">
                <a:solidFill>
                  <a:srgbClr val="202224"/>
                </a:solidFill>
                <a:latin typeface="Aptos"/>
              </a:rPr>
              <a:t>Objective: convert the statistical finding into concrete actions for supervisors and sales agents.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" y="3621024"/>
            <a:ext cx="3584448" cy="31272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80" b="0">
                <a:solidFill>
                  <a:srgbClr val="5A6673"/>
                </a:solidFill>
                <a:latin typeface="Aptos"/>
              </a:rPr>
              <a:t>Aplazaloh Campaign | Operational linear regression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5A6673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2700" b="1">
                <a:solidFill>
                  <a:srgbClr val="122D50"/>
                </a:solidFill>
                <a:latin typeface="Aptos"/>
              </a:rPr>
              <a:t>Executive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9875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1250" b="0">
                <a:solidFill>
                  <a:srgbClr val="5A6673"/>
                </a:solidFill>
                <a:latin typeface="Aptos"/>
              </a:rPr>
              <a:t>What the operation should clearly retain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43000" cy="54864"/>
          </a:xfrm>
          <a:prstGeom prst="rect">
            <a:avLst/>
          </a:prstGeom>
          <a:solidFill>
            <a:srgbClr val="F58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47472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3152" cy="14173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636776"/>
            <a:ext cx="3035808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1">
                <a:solidFill>
                  <a:srgbClr val="122D50"/>
                </a:solidFill>
                <a:latin typeface="Aptos"/>
              </a:rPr>
              <a:t>Central 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002536"/>
            <a:ext cx="3035808" cy="81381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919"/>
              <a:t>Sales are mainly explained by effective talk time: +4.75 expected sales for each additional talked hour.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7472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1417320"/>
          </a:xfrm>
          <a:prstGeom prst="rect">
            <a:avLst/>
          </a:prstGeom>
          <a:solidFill>
            <a:srgbClr val="F58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636776"/>
            <a:ext cx="3035808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1">
                <a:solidFill>
                  <a:srgbClr val="122D50"/>
                </a:solidFill>
                <a:latin typeface="Aptos"/>
              </a:rPr>
              <a:t>Control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002536"/>
            <a:ext cx="3035808" cy="81381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919"/>
              <a:t>ACW works as friction: +1 hour of ACW is associated with -4.06 expected sales.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08760"/>
            <a:ext cx="347472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08760"/>
            <a:ext cx="73152" cy="141732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36776"/>
            <a:ext cx="3035808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1">
                <a:solidFill>
                  <a:srgbClr val="122D50"/>
                </a:solidFill>
                <a:latin typeface="Aptos"/>
              </a:rPr>
              <a:t>Correct reading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02536"/>
            <a:ext cx="3035808" cy="81381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919"/>
              <a:t>The final simple model explains approx. 93.7% of the observed variation in Q_VENTAS.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0332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1800" b="1">
                <a:solidFill>
                  <a:srgbClr val="122D50"/>
                </a:solidFill>
                <a:latin typeface="Aptos"/>
              </a:rPr>
              <a:t>Key idea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60520"/>
            <a:ext cx="10607040" cy="128016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202224"/>
                </a:solidFill>
                <a:latin typeface="Aptos"/>
              </a:defRPr>
            </a:pPr>
            <a:r>
              <a:rPr sz="1400"/>
              <a:t>The visible engine of sales is effective commercial conversation.</a:t>
            </a:r>
          </a:p>
          <a:p>
            <a:pPr/>
            <a:r>
              <a:rPr sz="1400"/>
              <a:t>The final model uses only two variables: T_HABLADO_HORAS and T_ACW_HORAS.</a:t>
            </a:r>
          </a:p>
          <a:p>
            <a:pPr/>
            <a:r>
              <a:rPr sz="1400"/>
              <a:t>Operational message: more useful conversation; less post-call friction.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92240"/>
            <a:ext cx="51206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850" b="0">
                <a:solidFill>
                  <a:srgbClr val="5A6673"/>
                </a:solidFill>
                <a:latin typeface="Aptos"/>
              </a:rPr>
              <a:t>Aplazaloh Campaign | Operational linear regression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5A6673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2700" b="1">
                <a:solidFill>
                  <a:srgbClr val="122D50"/>
                </a:solidFill>
                <a:latin typeface="Aptos"/>
              </a:rPr>
              <a:t>What was used to reach the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9875520" cy="32004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/>
            <a:r>
              <a:rPr sz="1800"/>
              <a:t>Analytical base and decision criteria for the final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43000" cy="54864"/>
          </a:xfrm>
          <a:prstGeom prst="rect">
            <a:avLst/>
          </a:prstGeom>
          <a:solidFill>
            <a:srgbClr val="F58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46888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73152" cy="10972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636776"/>
            <a:ext cx="2029968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1">
                <a:solidFill>
                  <a:srgbClr val="122D50"/>
                </a:solidFill>
                <a:latin typeface="Aptos"/>
              </a:rPr>
              <a:t>Unit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002536"/>
            <a:ext cx="2029968" cy="49377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900"/>
              <a:t>Supervisor - day - campaign</a:t>
            </a:r>
          </a:p>
          <a:p>
            <a:pPr algn="l"/>
            <a:r>
              <a:rPr sz="900"/>
              <a:t>52 final observations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08760"/>
            <a:ext cx="246888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508760"/>
            <a:ext cx="73152" cy="109728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1636776"/>
            <a:ext cx="2029968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1">
                <a:solidFill>
                  <a:srgbClr val="122D50"/>
                </a:solidFill>
                <a:latin typeface="Aptos"/>
              </a:rPr>
              <a:t>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002536"/>
            <a:ext cx="2029968" cy="4937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19" b="0">
                <a:solidFill>
                  <a:srgbClr val="202224"/>
                </a:solidFill>
                <a:latin typeface="Aptos"/>
              </a:rPr>
              <a:t>Q_VENTAS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508760"/>
            <a:ext cx="246888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508760"/>
            <a:ext cx="73152" cy="1097280"/>
          </a:xfrm>
          <a:prstGeom prst="rect">
            <a:avLst/>
          </a:prstGeom>
          <a:solidFill>
            <a:srgbClr val="F58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636776"/>
            <a:ext cx="2029968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1">
                <a:solidFill>
                  <a:srgbClr val="122D50"/>
                </a:solidFill>
                <a:latin typeface="Aptos"/>
              </a:rPr>
              <a:t>Variables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002536"/>
            <a:ext cx="2029968" cy="4937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19" b="0">
                <a:solidFill>
                  <a:srgbClr val="202224"/>
                </a:solidFill>
                <a:latin typeface="Aptos"/>
              </a:rPr>
              <a:t>Volume, time, and efficiency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508760"/>
            <a:ext cx="246888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23960" y="1508760"/>
            <a:ext cx="73152" cy="10972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9992" y="1636776"/>
            <a:ext cx="2029968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1">
                <a:solidFill>
                  <a:srgbClr val="122D50"/>
                </a:solidFill>
                <a:latin typeface="Aptos"/>
              </a:rPr>
              <a:t>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2002536"/>
            <a:ext cx="2029968" cy="49377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900"/>
              <a:t>Full time, simple time, efficiency, and volume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15468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1800" b="1">
                <a:solidFill>
                  <a:srgbClr val="122D50"/>
                </a:solidFill>
                <a:latin typeface="Aptos"/>
              </a:rPr>
              <a:t>Evaluation criteria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611880"/>
            <a:ext cx="5486400" cy="201168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02224"/>
                </a:solidFill>
                <a:latin typeface="Aptos"/>
              </a:defRPr>
            </a:pPr>
            <a:r>
              <a:rPr sz="1200"/>
              <a:t>Adjusted R²: comparable explanatory power across models.</a:t>
            </a:r>
          </a:p>
          <a:p>
            <a:pPr/>
            <a:r>
              <a:rPr sz="1200"/>
              <a:t>AIC/BIC: lower complexity with good fit; lower is better.</a:t>
            </a:r>
          </a:p>
          <a:p>
            <a:pPr/>
            <a:r>
              <a:rPr sz="1200"/>
              <a:t>p-value: individual significance of each variable.</a:t>
            </a:r>
          </a:p>
          <a:p>
            <a:pPr/>
            <a:r>
              <a:rPr sz="1200"/>
              <a:t>Final decision: simple time model for clarity, strength, and actionability.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3657600"/>
            <a:ext cx="1051560" cy="777240"/>
          </a:xfrm>
          <a:prstGeom prst="roundRect">
            <a:avLst/>
          </a:prstGeom>
          <a:solidFill>
            <a:srgbClr val="F5F7FA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29400" y="3657600"/>
            <a:ext cx="73152" cy="7772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39128" y="3739896"/>
            <a:ext cx="850392" cy="621792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1000"/>
              <a:t>6,138</a:t>
            </a:r>
          </a:p>
          <a:p>
            <a:pPr algn="l"/>
            <a:r>
              <a:rPr sz="1000"/>
              <a:t>records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3992" y="4160520"/>
            <a:ext cx="777239" cy="182879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202224"/>
                </a:solidFill>
                <a:latin typeface="Apto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913632"/>
            <a:ext cx="27432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5A6673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3657600"/>
            <a:ext cx="1051560" cy="777240"/>
          </a:xfrm>
          <a:prstGeom prst="roundRect">
            <a:avLst/>
          </a:prstGeom>
          <a:solidFill>
            <a:srgbClr val="F5F7FA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63840" y="3657600"/>
            <a:ext cx="73152" cy="77724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3568" y="3739896"/>
            <a:ext cx="850392" cy="621792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1000"/>
              <a:t>698</a:t>
            </a:r>
          </a:p>
          <a:p>
            <a:pPr algn="l"/>
            <a:r>
              <a:rPr sz="1000"/>
              <a:t>agent-day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8431" y="4160520"/>
            <a:ext cx="777239" cy="182879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202224"/>
                </a:solidFill>
                <a:latin typeface="Aptos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0536" y="3913632"/>
            <a:ext cx="27432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5A6673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3657600"/>
            <a:ext cx="1051560" cy="777240"/>
          </a:xfrm>
          <a:prstGeom prst="roundRect">
            <a:avLst/>
          </a:prstGeom>
          <a:solidFill>
            <a:srgbClr val="F5F7FA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98280" y="3657600"/>
            <a:ext cx="73152" cy="777240"/>
          </a:xfrm>
          <a:prstGeom prst="rect">
            <a:avLst/>
          </a:prstGeom>
          <a:solidFill>
            <a:srgbClr val="F58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08008" y="3739896"/>
            <a:ext cx="850392" cy="621792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1000"/>
              <a:t>52</a:t>
            </a:r>
          </a:p>
          <a:p>
            <a:pPr algn="l"/>
            <a:r>
              <a:rPr sz="1000"/>
              <a:t>supervisor-day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62872" y="4160520"/>
            <a:ext cx="777239" cy="182879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202224"/>
                </a:solidFill>
                <a:latin typeface="Aptos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94976" y="3913632"/>
            <a:ext cx="27432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5A6673"/>
                </a:solidFill>
                <a:latin typeface="Aptos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32720" y="3657600"/>
            <a:ext cx="1051560" cy="777240"/>
          </a:xfrm>
          <a:prstGeom prst="roundRect">
            <a:avLst/>
          </a:prstGeom>
          <a:solidFill>
            <a:srgbClr val="F5F7FA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332720" y="3657600"/>
            <a:ext cx="73152" cy="777240"/>
          </a:xfrm>
          <a:prstGeom prst="rect">
            <a:avLst/>
          </a:prstGeom>
          <a:solidFill>
            <a:srgbClr val="12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42448" y="3739896"/>
            <a:ext cx="850392" cy="621792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1000"/>
              <a:t>Final simple</a:t>
            </a:r>
          </a:p>
          <a:p>
            <a:pPr algn="l"/>
            <a:r>
              <a:rPr sz="1000"/>
              <a:t>model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97312" y="4160520"/>
            <a:ext cx="777239" cy="182879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202224"/>
                </a:solidFill>
                <a:latin typeface="Aptos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492240"/>
            <a:ext cx="51206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850" b="0">
                <a:solidFill>
                  <a:srgbClr val="5A6673"/>
                </a:solidFill>
                <a:latin typeface="Aptos"/>
              </a:rPr>
              <a:t>Aplazaloh Campaign | Operational linear regression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5A6673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2700" b="1">
                <a:solidFill>
                  <a:srgbClr val="122D50"/>
                </a:solidFill>
                <a:latin typeface="Aptos"/>
              </a:rPr>
              <a:t>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9875520" cy="32004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/>
            <a:r>
              <a:rPr sz="1800"/>
              <a:t>Why the simple time model is the most defensible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43000" cy="54864"/>
          </a:xfrm>
          <a:prstGeom prst="rect">
            <a:avLst/>
          </a:prstGeom>
          <a:solidFill>
            <a:srgbClr val="F58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43800" y="1691640"/>
            <a:ext cx="365760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43800" y="1691640"/>
            <a:ext cx="73152" cy="11430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99832" y="1819656"/>
            <a:ext cx="3218688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1">
                <a:solidFill>
                  <a:srgbClr val="122D50"/>
                </a:solidFill>
                <a:latin typeface="Aptos"/>
              </a:rPr>
              <a:t>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9832" y="2185416"/>
            <a:ext cx="3218688" cy="5394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919"/>
              <a:t>The simple time model has adjusted R² = 0.9372, practically equal to the full time model.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3017520"/>
            <a:ext cx="365760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43800" y="3017520"/>
            <a:ext cx="73152" cy="1143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9832" y="3145536"/>
            <a:ext cx="3218688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1">
                <a:solidFill>
                  <a:srgbClr val="122D50"/>
                </a:solidFill>
                <a:latin typeface="Aptos"/>
              </a:rPr>
              <a:t>Executive reading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9832" y="3511296"/>
            <a:ext cx="3218688" cy="5394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919"/>
              <a:t>With only two variables, it explains almost the same as the full model and improves the management reading.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343400"/>
            <a:ext cx="365760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3800" y="4343400"/>
            <a:ext cx="73152" cy="1143000"/>
          </a:xfrm>
          <a:prstGeom prst="rect">
            <a:avLst/>
          </a:prstGeom>
          <a:solidFill>
            <a:srgbClr val="F58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9832" y="4471416"/>
            <a:ext cx="3218688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1">
                <a:solidFill>
                  <a:srgbClr val="122D50"/>
                </a:solidFill>
                <a:latin typeface="Aptos"/>
              </a:rPr>
              <a:t>Implication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9832" y="4837176"/>
            <a:ext cx="3218688" cy="5394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919"/>
              <a:t>Management should prioritize productive conversation and control ACW as operational friction.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92240"/>
            <a:ext cx="51206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850" b="0">
                <a:solidFill>
                  <a:srgbClr val="5A6673"/>
                </a:solidFill>
                <a:latin typeface="Aptos"/>
              </a:rPr>
              <a:t>Aplazaloh Campaign | Operational linear regression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5A6673"/>
                </a:solidFill>
                <a:latin typeface="Aptos"/>
              </a:rPr>
              <a:t>4</a:t>
            </a:r>
          </a:p>
        </p:txBody>
      </p:sp>
      <p:pic>
        <p:nvPicPr>
          <p:cNvPr id="21" name="Picture 20" descr="model_comparison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6400800" cy="3237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2700" b="1">
                <a:solidFill>
                  <a:srgbClr val="122D50"/>
                </a:solidFill>
                <a:latin typeface="Aptos"/>
              </a:rPr>
              <a:t>Main driver: talk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9875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1250" b="0">
                <a:solidFill>
                  <a:srgbClr val="5A6673"/>
                </a:solidFill>
                <a:latin typeface="Aptos"/>
              </a:rPr>
              <a:t>Impact ranking within the time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43000" cy="54864"/>
          </a:xfrm>
          <a:prstGeom prst="rect">
            <a:avLst/>
          </a:prstGeom>
          <a:solidFill>
            <a:srgbClr val="F58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50876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1800" b="1">
                <a:solidFill>
                  <a:srgbClr val="122D50"/>
                </a:solidFill>
                <a:latin typeface="Aptos"/>
              </a:rP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057400"/>
            <a:ext cx="3474720" cy="310896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02224"/>
                </a:solidFill>
                <a:latin typeface="Aptos"/>
              </a:defRPr>
            </a:pPr>
            <a:r>
              <a:rPr sz="1300"/>
              <a:t>T_HABLADO_HORAS concentrates the strongest signal in the time model.</a:t>
            </a:r>
          </a:p>
          <a:p>
            <a:pPr/>
            <a:r>
              <a:rPr sz="1300"/>
              <a:t>Its standardized impact is 1.898, far above the other variables.</a:t>
            </a:r>
          </a:p>
          <a:p>
            <a:pPr/>
            <a:r>
              <a:rPr sz="1300"/>
              <a:t>T_ACW_HORAS appears as the second relevant variable, but with a negative effect.</a:t>
            </a:r>
          </a:p>
          <a:p>
            <a:pPr/>
            <a:r>
              <a:rPr sz="1300"/>
              <a:t>Operational reading: selling more does not depend only on being connected, but on converting the day into effective commercial conversation.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92240"/>
            <a:ext cx="51206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850" b="0">
                <a:solidFill>
                  <a:srgbClr val="5A6673"/>
                </a:solidFill>
                <a:latin typeface="Aptos"/>
              </a:rPr>
              <a:t>Aplazaloh Campaign | Operational linear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5A6673"/>
                </a:solidFill>
                <a:latin typeface="Aptos"/>
              </a:rPr>
              <a:t>5</a:t>
            </a:r>
          </a:p>
        </p:txBody>
      </p:sp>
      <p:pic>
        <p:nvPicPr>
          <p:cNvPr id="11" name="Picture 10" descr="impact_ranking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17320"/>
            <a:ext cx="6812280" cy="35802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2700" b="1">
                <a:solidFill>
                  <a:srgbClr val="122D50"/>
                </a:solidFill>
                <a:latin typeface="Aptos"/>
              </a:rPr>
              <a:t>Operational translation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9875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1250" b="0">
                <a:solidFill>
                  <a:srgbClr val="5A6673"/>
                </a:solidFill>
                <a:latin typeface="Aptos"/>
              </a:rPr>
              <a:t>Why talk time drives sales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43000" cy="54864"/>
          </a:xfrm>
          <a:prstGeom prst="rect">
            <a:avLst/>
          </a:prstGeom>
          <a:solidFill>
            <a:srgbClr val="F58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3383280" cy="1188720"/>
          </a:xfrm>
          <a:prstGeom prst="roundRect">
            <a:avLst/>
          </a:prstGeom>
          <a:solidFill>
            <a:srgbClr val="F5F7FA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508760"/>
            <a:ext cx="73152" cy="11887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636776"/>
            <a:ext cx="2944368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1">
                <a:solidFill>
                  <a:srgbClr val="122D50"/>
                </a:solidFill>
                <a:latin typeface="Aptos"/>
              </a:rPr>
              <a:t>1. Real contact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02536"/>
            <a:ext cx="2944368" cy="5852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80" b="0">
                <a:solidFill>
                  <a:srgbClr val="202224"/>
                </a:solidFill>
                <a:latin typeface="Aptos"/>
              </a:rPr>
              <a:t>The agent manages to speak with the customer, not just dial or wait.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383280" cy="1188720"/>
          </a:xfrm>
          <a:prstGeom prst="roundRect">
            <a:avLst/>
          </a:prstGeom>
          <a:solidFill>
            <a:srgbClr val="F5F7FA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08760"/>
            <a:ext cx="73152" cy="118872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636776"/>
            <a:ext cx="2944368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1">
                <a:solidFill>
                  <a:srgbClr val="122D50"/>
                </a:solidFill>
                <a:latin typeface="Aptos"/>
              </a:rPr>
              <a:t>2. Offer explained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002536"/>
            <a:ext cx="2944368" cy="5852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80" b="0">
                <a:solidFill>
                  <a:srgbClr val="202224"/>
                </a:solidFill>
                <a:latin typeface="Aptos"/>
              </a:rPr>
              <a:t>Benefits, conditions, and next steps are communicated.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383280" cy="1188720"/>
          </a:xfrm>
          <a:prstGeom prst="roundRect">
            <a:avLst/>
          </a:prstGeom>
          <a:solidFill>
            <a:srgbClr val="F5F7FA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73152" cy="1188720"/>
          </a:xfrm>
          <a:prstGeom prst="rect">
            <a:avLst/>
          </a:prstGeom>
          <a:solidFill>
            <a:srgbClr val="F58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636776"/>
            <a:ext cx="2944368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1">
                <a:solidFill>
                  <a:srgbClr val="122D50"/>
                </a:solidFill>
                <a:latin typeface="Aptos"/>
              </a:rPr>
              <a:t>3. Objections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002536"/>
            <a:ext cx="2944368" cy="5852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80" b="0">
                <a:solidFill>
                  <a:srgbClr val="202224"/>
                </a:solidFill>
                <a:latin typeface="Aptos"/>
              </a:rPr>
              <a:t>The call allows doubts to be resolved and the close to be supported.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3337560"/>
            <a:ext cx="3886200" cy="1280160"/>
          </a:xfrm>
          <a:prstGeom prst="roundRect">
            <a:avLst/>
          </a:prstGeom>
          <a:solidFill>
            <a:srgbClr val="F5F7FA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0" y="3337560"/>
            <a:ext cx="73152" cy="1280160"/>
          </a:xfrm>
          <a:prstGeom prst="rect">
            <a:avLst/>
          </a:prstGeom>
          <a:solidFill>
            <a:srgbClr val="C6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84832" y="3465576"/>
            <a:ext cx="3447288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1">
                <a:solidFill>
                  <a:srgbClr val="122D50"/>
                </a:solidFill>
                <a:latin typeface="Aptos"/>
              </a:rPr>
              <a:t>Controlled ACW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84832" y="3831336"/>
            <a:ext cx="3447288" cy="6766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19" b="0">
                <a:solidFill>
                  <a:srgbClr val="202224"/>
                </a:solidFill>
                <a:latin typeface="Aptos"/>
              </a:rPr>
              <a:t>Post-call registration is necessary, but if it expands too much it consumes commercial capacity.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3337560"/>
            <a:ext cx="3886200" cy="1280160"/>
          </a:xfrm>
          <a:prstGeom prst="roundRect">
            <a:avLst/>
          </a:prstGeom>
          <a:solidFill>
            <a:srgbClr val="F5F7FA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3337560"/>
            <a:ext cx="73152" cy="12801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2" y="3465576"/>
            <a:ext cx="3447288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1">
                <a:solidFill>
                  <a:srgbClr val="122D50"/>
                </a:solidFill>
                <a:latin typeface="Aptos"/>
              </a:rPr>
              <a:t>Recommended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2552" y="3831336"/>
            <a:ext cx="3447288" cy="6766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919"/>
              <a:t>Sales per talked hour: measures real commercial productivity, not just operational presence.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440680"/>
            <a:ext cx="9235440" cy="41148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ctr"/>
            <a:r>
              <a:rPr sz="1500"/>
              <a:t>Management phrase: “more useful conversation, less post-call friction”.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92240"/>
            <a:ext cx="51206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850" b="0">
                <a:solidFill>
                  <a:srgbClr val="5A6673"/>
                </a:solidFill>
                <a:latin typeface="Aptos"/>
              </a:rPr>
              <a:t>Aplazaloh Campaign | Operational linear regression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5A6673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2700" b="1">
                <a:solidFill>
                  <a:srgbClr val="122D50"/>
                </a:solidFill>
                <a:latin typeface="Aptos"/>
              </a:rPr>
              <a:t>Equation and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9875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1250" b="0">
                <a:solidFill>
                  <a:srgbClr val="5A6673"/>
                </a:solidFill>
                <a:latin typeface="Aptos"/>
              </a:rPr>
              <a:t>How to read coefficients without turning them into a mechanical promise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43000" cy="54864"/>
          </a:xfrm>
          <a:prstGeom prst="rect">
            <a:avLst/>
          </a:prstGeom>
          <a:solidFill>
            <a:srgbClr val="F58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5029200" cy="1097280"/>
          </a:xfrm>
          <a:prstGeom prst="roundRect">
            <a:avLst/>
          </a:prstGeom>
          <a:solidFill>
            <a:srgbClr val="E3F1FC"/>
          </a:solidFill>
          <a:ln>
            <a:solidFill>
              <a:srgbClr val="C8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545336"/>
            <a:ext cx="4590288" cy="85953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ctr"/>
            <a:r>
              <a:rPr sz="1800"/>
              <a:t>Q_VENTAS = -0.329279 + 4.749583·T_HABLADO_HORAS - 4.062390·T_ACW_HORAS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237744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788920"/>
            <a:ext cx="73152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916936"/>
            <a:ext cx="1938528" cy="2468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3200"/>
              <a:t>+4.75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200400"/>
            <a:ext cx="1938528" cy="438912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1100"/>
              <a:t>expected sales for 1 additional talked hour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788920"/>
            <a:ext cx="237744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2788920"/>
            <a:ext cx="73152" cy="960120"/>
          </a:xfrm>
          <a:prstGeom prst="rect">
            <a:avLst/>
          </a:prstGeom>
          <a:solidFill>
            <a:srgbClr val="F58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0752" y="2916936"/>
            <a:ext cx="1938528" cy="2468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3200"/>
              <a:t>-4.06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3200400"/>
            <a:ext cx="1938528" cy="438912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1100"/>
              <a:t>expected sales for 1 additional ACW hour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43400"/>
            <a:ext cx="5029200" cy="68580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/>
            <a:r>
              <a:rPr sz="1400"/>
              <a:t>Applied example: 10 talked hours and 1.5 h ACW ≈ 41.07 estimated sales.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57800"/>
            <a:ext cx="5029200" cy="41148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/>
            <a:r>
              <a:rPr sz="1200"/>
              <a:t>Sensitivity: +1 talked hour rises to 45.82; +1 ACW hour falls to 37.01 estimated sales.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92240"/>
            <a:ext cx="51206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850" b="0">
                <a:solidFill>
                  <a:srgbClr val="5A6673"/>
                </a:solidFill>
                <a:latin typeface="Aptos"/>
              </a:rPr>
              <a:t>Aplazaloh Campaign | Operational linear regression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5A6673"/>
                </a:solidFill>
                <a:latin typeface="Aptos"/>
              </a:rPr>
              <a:t>7</a:t>
            </a:r>
          </a:p>
        </p:txBody>
      </p:sp>
      <p:pic>
        <p:nvPicPr>
          <p:cNvPr id="21" name="Picture 20" descr="simulation_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417320"/>
            <a:ext cx="4754880" cy="26070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2700" b="1">
                <a:solidFill>
                  <a:srgbClr val="122D50"/>
                </a:solidFill>
                <a:latin typeface="Aptos"/>
              </a:rPr>
              <a:t>Recommended daily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9875520" cy="32004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/>
            <a:r>
              <a:rPr sz="1800"/>
              <a:t>Minimum dashboard for supervisors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43000" cy="54864"/>
          </a:xfrm>
          <a:prstGeom prst="rect">
            <a:avLst/>
          </a:prstGeom>
          <a:solidFill>
            <a:srgbClr val="F58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2560320" cy="502920"/>
          </a:xfrm>
          <a:prstGeom prst="rect">
            <a:avLst/>
          </a:prstGeom>
          <a:solidFill>
            <a:srgbClr val="122D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499616"/>
            <a:ext cx="2121408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KPI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39" y="1417320"/>
            <a:ext cx="3657600" cy="502920"/>
          </a:xfrm>
          <a:prstGeom prst="rect">
            <a:avLst/>
          </a:prstGeom>
          <a:solidFill>
            <a:srgbClr val="122D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1" y="1499616"/>
            <a:ext cx="3218688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What it measures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1417320"/>
            <a:ext cx="4526280" cy="502920"/>
          </a:xfrm>
          <a:prstGeom prst="rect">
            <a:avLst/>
          </a:prstGeom>
          <a:solidFill>
            <a:srgbClr val="122D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5472" y="1499616"/>
            <a:ext cx="4087368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Operational decision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920240"/>
            <a:ext cx="2560320" cy="621792"/>
          </a:xfrm>
          <a:prstGeom prst="rect">
            <a:avLst/>
          </a:prstGeom>
          <a:solidFill>
            <a:srgbClr val="F8FAFC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002536"/>
            <a:ext cx="2121408" cy="466344"/>
          </a:xfrm>
          <a:prstGeom prst="rect">
            <a:avLst/>
          </a:prstGeom>
          <a:noFill/>
        </p:spPr>
        <p:txBody>
          <a:bodyPr wrap="square" lIns="54864" rIns="54864" tIns="0" bIns="0" anchor="t">
            <a:normAutofit/>
          </a:bodyPr>
          <a:lstStyle/>
          <a:p>
            <a:pPr algn="l"/>
            <a:r>
              <a:rPr sz="919" b="1">
                <a:solidFill>
                  <a:srgbClr val="122D50"/>
                </a:solidFill>
                <a:latin typeface="Aptos"/>
              </a:rPr>
              <a:t>T_HABLADO_HORAS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39" y="1920240"/>
            <a:ext cx="3657600" cy="621792"/>
          </a:xfrm>
          <a:prstGeom prst="rect">
            <a:avLst/>
          </a:prstGeom>
          <a:solidFill>
            <a:srgbClr val="F8FAFC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1" y="2002536"/>
            <a:ext cx="3218688" cy="466344"/>
          </a:xfrm>
          <a:prstGeom prst="rect">
            <a:avLst/>
          </a:prstGeom>
          <a:noFill/>
        </p:spPr>
        <p:txBody>
          <a:bodyPr wrap="square" lIns="54864" rIns="54864" tIns="0" bIns="0" anchor="t">
            <a:normAutofit/>
          </a:bodyPr>
          <a:lstStyle/>
          <a:p>
            <a:pPr algn="l"/>
            <a:r>
              <a:rPr sz="880" b="0">
                <a:solidFill>
                  <a:srgbClr val="202224"/>
                </a:solidFill>
                <a:latin typeface="Aptos"/>
              </a:rPr>
              <a:t>Effective commercial conversation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1920240"/>
            <a:ext cx="4526280" cy="621792"/>
          </a:xfrm>
          <a:prstGeom prst="rect">
            <a:avLst/>
          </a:prstGeom>
          <a:solidFill>
            <a:srgbClr val="F8FAFC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5472" y="2002536"/>
            <a:ext cx="4087368" cy="466344"/>
          </a:xfrm>
          <a:prstGeom prst="rect">
            <a:avLst/>
          </a:prstGeom>
          <a:noFill/>
        </p:spPr>
        <p:txBody>
          <a:bodyPr wrap="square" lIns="54864" rIns="54864" tIns="0" bIns="0" anchor="t">
            <a:normAutofit/>
          </a:bodyPr>
          <a:lstStyle/>
          <a:p>
            <a:pPr algn="l"/>
            <a:r>
              <a:rPr sz="880" b="0">
                <a:solidFill>
                  <a:srgbClr val="202224"/>
                </a:solidFill>
                <a:latin typeface="Aptos"/>
              </a:rPr>
              <a:t>Increase useful sales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542032"/>
            <a:ext cx="25603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2624328"/>
            <a:ext cx="2121408" cy="466344"/>
          </a:xfrm>
          <a:prstGeom prst="rect">
            <a:avLst/>
          </a:prstGeom>
          <a:noFill/>
        </p:spPr>
        <p:txBody>
          <a:bodyPr wrap="square" lIns="54864" rIns="54864" tIns="0" bIns="0" anchor="t">
            <a:normAutofit/>
          </a:bodyPr>
          <a:lstStyle/>
          <a:p>
            <a:pPr algn="l"/>
            <a:r>
              <a:rPr sz="919" b="1">
                <a:solidFill>
                  <a:srgbClr val="122D50"/>
                </a:solidFill>
                <a:latin typeface="Aptos"/>
              </a:rPr>
              <a:t>T_ACW_HORAS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39" y="2542032"/>
            <a:ext cx="36576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47871" y="2624328"/>
            <a:ext cx="3218688" cy="466344"/>
          </a:xfrm>
          <a:prstGeom prst="rect">
            <a:avLst/>
          </a:prstGeom>
          <a:noFill/>
        </p:spPr>
        <p:txBody>
          <a:bodyPr wrap="square" lIns="54864" rIns="54864" tIns="0" bIns="0" anchor="t">
            <a:normAutofit/>
          </a:bodyPr>
          <a:lstStyle/>
          <a:p>
            <a:pPr algn="l"/>
            <a:r>
              <a:rPr sz="919" b="0">
                <a:solidFill>
                  <a:srgbClr val="202224"/>
                </a:solidFill>
                <a:latin typeface="Aptos"/>
              </a:rPr>
              <a:t>Post-call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2542032"/>
            <a:ext cx="45262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5472" y="2624328"/>
            <a:ext cx="4087368" cy="466344"/>
          </a:xfrm>
          <a:prstGeom prst="rect">
            <a:avLst/>
          </a:prstGeom>
          <a:noFill/>
        </p:spPr>
        <p:txBody>
          <a:bodyPr wrap="square" lIns="54864" rIns="54864" tIns="0" bIns="0" anchor="t">
            <a:normAutofit/>
          </a:bodyPr>
          <a:lstStyle/>
          <a:p>
            <a:pPr algn="l"/>
            <a:r>
              <a:rPr sz="880" b="0">
                <a:solidFill>
                  <a:srgbClr val="202224"/>
                </a:solidFill>
                <a:latin typeface="Aptos"/>
              </a:rPr>
              <a:t>Audit friction and disposition coding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163824"/>
            <a:ext cx="2560320" cy="621792"/>
          </a:xfrm>
          <a:prstGeom prst="rect">
            <a:avLst/>
          </a:prstGeom>
          <a:solidFill>
            <a:srgbClr val="F8FAFC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3246120"/>
            <a:ext cx="2121408" cy="466344"/>
          </a:xfrm>
          <a:prstGeom prst="rect">
            <a:avLst/>
          </a:prstGeom>
          <a:noFill/>
        </p:spPr>
        <p:txBody>
          <a:bodyPr wrap="square" lIns="54864" rIns="54864" tIns="0" bIns="0" anchor="t">
            <a:normAutofit/>
          </a:bodyPr>
          <a:lstStyle/>
          <a:p>
            <a:pPr algn="l"/>
            <a:r>
              <a:rPr sz="919" b="1">
                <a:solidFill>
                  <a:srgbClr val="122D50"/>
                </a:solidFill>
                <a:latin typeface="Aptos"/>
              </a:rPr>
              <a:t>Sales / talked hour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39" y="3163824"/>
            <a:ext cx="3657600" cy="621792"/>
          </a:xfrm>
          <a:prstGeom prst="rect">
            <a:avLst/>
          </a:prstGeom>
          <a:solidFill>
            <a:srgbClr val="F8FAFC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47871" y="3246120"/>
            <a:ext cx="3218688" cy="466344"/>
          </a:xfrm>
          <a:prstGeom prst="rect">
            <a:avLst/>
          </a:prstGeom>
          <a:noFill/>
        </p:spPr>
        <p:txBody>
          <a:bodyPr wrap="square" lIns="54864" rIns="54864" tIns="0" bIns="0" anchor="t">
            <a:normAutofit/>
          </a:bodyPr>
          <a:lstStyle/>
          <a:p>
            <a:pPr algn="l"/>
            <a:r>
              <a:rPr sz="919" b="0">
                <a:solidFill>
                  <a:srgbClr val="202224"/>
                </a:solidFill>
                <a:latin typeface="Aptos"/>
              </a:rPr>
              <a:t>Real productivity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3163824"/>
            <a:ext cx="4526280" cy="621792"/>
          </a:xfrm>
          <a:prstGeom prst="rect">
            <a:avLst/>
          </a:prstGeom>
          <a:solidFill>
            <a:srgbClr val="F8FAFC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05472" y="3246120"/>
            <a:ext cx="4087368" cy="466344"/>
          </a:xfrm>
          <a:prstGeom prst="rect">
            <a:avLst/>
          </a:prstGeom>
          <a:noFill/>
        </p:spPr>
        <p:txBody>
          <a:bodyPr wrap="square" lIns="54864" rIns="54864" tIns="0" bIns="0" anchor="t">
            <a:normAutofit/>
          </a:bodyPr>
          <a:lstStyle/>
          <a:p>
            <a:pPr algn="l"/>
            <a:r>
              <a:rPr sz="880" b="0">
                <a:solidFill>
                  <a:srgbClr val="202224"/>
                </a:solidFill>
                <a:latin typeface="Aptos"/>
              </a:rPr>
              <a:t>Compare agents fairly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785616"/>
            <a:ext cx="25603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3867912"/>
            <a:ext cx="2121408" cy="466344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900"/>
              <a:t>Q_VENTAS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39" y="3785616"/>
            <a:ext cx="36576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47871" y="3867912"/>
            <a:ext cx="3218688" cy="466344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900"/>
              <a:t>Daily sales result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3785616"/>
            <a:ext cx="45262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05472" y="3867912"/>
            <a:ext cx="4087368" cy="466344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900"/>
              <a:t>Compare actual vs estimated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407408"/>
            <a:ext cx="2560320" cy="621792"/>
          </a:xfrm>
          <a:prstGeom prst="rect">
            <a:avLst/>
          </a:prstGeom>
          <a:solidFill>
            <a:srgbClr val="F8FAFC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4489704"/>
            <a:ext cx="2121408" cy="466344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900"/>
              <a:t>Operational gap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39" y="4407408"/>
            <a:ext cx="3657600" cy="621792"/>
          </a:xfrm>
          <a:prstGeom prst="rect">
            <a:avLst/>
          </a:prstGeom>
          <a:solidFill>
            <a:srgbClr val="F8FAFC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47871" y="4489704"/>
            <a:ext cx="3218688" cy="466344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900"/>
              <a:t>Difference vs expected pattern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0" y="4407408"/>
            <a:ext cx="4526280" cy="621792"/>
          </a:xfrm>
          <a:prstGeom prst="rect">
            <a:avLst/>
          </a:prstGeom>
          <a:solidFill>
            <a:srgbClr val="F8FAFC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05472" y="4489704"/>
            <a:ext cx="4087368" cy="466344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900"/>
              <a:t>Detect management deviations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897880"/>
            <a:ext cx="10058400" cy="32004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ctr"/>
            <a:r>
              <a:rPr sz="1500"/>
              <a:t>Do not manage only by login: login without conversation is installed capacity, not executed sales.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492240"/>
            <a:ext cx="51206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850" b="0">
                <a:solidFill>
                  <a:srgbClr val="5A6673"/>
                </a:solidFill>
                <a:latin typeface="Aptos"/>
              </a:rPr>
              <a:t>Aplazaloh Campaign | Operational linear regression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5A6673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45720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/>
            <a:r>
              <a:rPr sz="2800"/>
              <a:t>How to use the model in daily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9875520" cy="32004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/>
            <a:r>
              <a:rPr sz="1800"/>
              <a:t>Separate operational signal from noise and avoid mechanical 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43000" cy="54864"/>
          </a:xfrm>
          <a:prstGeom prst="rect">
            <a:avLst/>
          </a:prstGeom>
          <a:solidFill>
            <a:srgbClr val="F58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475488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73152" cy="1325880"/>
          </a:xfrm>
          <a:prstGeom prst="rect">
            <a:avLst/>
          </a:prstGeom>
          <a:solidFill>
            <a:srgbClr val="C6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1591056"/>
            <a:ext cx="431596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1000"/>
              <a:t>Correct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1956816"/>
            <a:ext cx="4315968" cy="72237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919"/>
              <a:t>Use the model as an operational compass: it shows historical association, not an exact sales promise.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63040"/>
            <a:ext cx="475488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73152" cy="1325880"/>
          </a:xfrm>
          <a:prstGeom prst="rect">
            <a:avLst/>
          </a:prstGeom>
          <a:solidFill>
            <a:srgbClr val="F58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591056"/>
            <a:ext cx="431596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1000"/>
              <a:t>Management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956816"/>
            <a:ext cx="4315968" cy="72237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919"/>
              <a:t>Increasing effective conversation must be the priority; uncontrolled ACW growth should trigger review.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46120"/>
            <a:ext cx="365760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/>
            <a:r>
              <a:rPr sz="1000"/>
              <a:t>Readings to review daily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03320"/>
            <a:ext cx="3657600" cy="164592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02224"/>
                </a:solidFill>
                <a:latin typeface="Aptos"/>
              </a:defRPr>
            </a:pPr>
            <a:r>
              <a:rPr sz="1200"/>
              <a:t>T_HABLADO_HORAS</a:t>
            </a:r>
          </a:p>
          <a:p>
            <a:pPr/>
            <a:r>
              <a:rPr sz="1200"/>
              <a:t>T_ACW_HORAS</a:t>
            </a:r>
          </a:p>
          <a:p>
            <a:pPr/>
            <a:r>
              <a:rPr sz="1200"/>
              <a:t>Q_VENTAS</a:t>
            </a:r>
          </a:p>
          <a:p>
            <a:pPr/>
            <a:r>
              <a:rPr sz="1200"/>
              <a:t>Sales per talked hour</a:t>
            </a:r>
          </a:p>
          <a:p>
            <a:pPr/>
            <a:r>
              <a:rPr sz="1200"/>
              <a:t>Gap vs estimated 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246120"/>
            <a:ext cx="411480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/>
            <a:r>
              <a:rPr sz="1000"/>
              <a:t>Supervision objective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3703320"/>
            <a:ext cx="5029200" cy="137160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02224"/>
                </a:solidFill>
                <a:latin typeface="Aptos"/>
              </a:defRPr>
            </a:pPr>
            <a:r>
              <a:rPr sz="1200"/>
              <a:t>Identify which supervisors or agents convert their day into effective conversation better.</a:t>
            </a:r>
          </a:p>
          <a:p>
            <a:pPr/>
            <a:r>
              <a:rPr sz="1200"/>
              <a:t>Detect excessive ACW due to registration, disposition coding, or hidden operational pauses.</a:t>
            </a:r>
          </a:p>
          <a:p>
            <a:pPr/>
            <a:r>
              <a:rPr sz="1200"/>
              <a:t>Make decisions with evidence, not corridor intuition.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92240"/>
            <a:ext cx="51206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850" b="0">
                <a:solidFill>
                  <a:srgbClr val="5A6673"/>
                </a:solidFill>
                <a:latin typeface="Aptos"/>
              </a:rPr>
              <a:t>Aplazaloh Campaign | Operational linear regression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5A6673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45720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/>
            <a:r>
              <a:rPr sz="2800"/>
              <a:t>Operational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9875520" cy="32004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/>
            <a:r>
              <a:rPr sz="1800"/>
              <a:t>Focus for supervisors and sales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43000" cy="54864"/>
          </a:xfrm>
          <a:prstGeom prst="rect">
            <a:avLst/>
          </a:prstGeom>
          <a:solidFill>
            <a:srgbClr val="F58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73152" cy="14630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682496"/>
            <a:ext cx="2944368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1">
                <a:solidFill>
                  <a:srgbClr val="122D50"/>
                </a:solidFill>
                <a:latin typeface="Aptos"/>
              </a:rPr>
              <a:t>Supervisors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048256"/>
            <a:ext cx="2944368" cy="85953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919"/>
              <a:t>Review talk time, ACW, and sales per talked hour daily. Identify friction by agent and time slot.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54480"/>
            <a:ext cx="73152" cy="146304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682496"/>
            <a:ext cx="2944368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1">
                <a:solidFill>
                  <a:srgbClr val="122D50"/>
                </a:solidFill>
                <a:latin typeface="Aptos"/>
              </a:rPr>
              <a:t>Sales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048256"/>
            <a:ext cx="2944368" cy="85953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919"/>
              <a:t>Increase useful conversation: real contact, clear offer, resolved objections, and disciplined closing.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38328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DE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554480"/>
            <a:ext cx="73152" cy="1463040"/>
          </a:xfrm>
          <a:prstGeom prst="rect">
            <a:avLst/>
          </a:prstGeom>
          <a:solidFill>
            <a:srgbClr val="F58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682496"/>
            <a:ext cx="2944368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1">
                <a:solidFill>
                  <a:srgbClr val="122D50"/>
                </a:solidFill>
                <a:latin typeface="Aptos"/>
              </a:rPr>
              <a:t>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048256"/>
            <a:ext cx="2944368" cy="85953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rmAutofit/>
          </a:bodyPr>
          <a:lstStyle/>
          <a:p>
            <a:pPr algn="l"/>
            <a:r>
              <a:rPr sz="919"/>
              <a:t>Monitor the gap between actual and estimated sales to detect operational deviations.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49039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2000" b="1">
                <a:solidFill>
                  <a:srgbClr val="122D50"/>
                </a:solidFill>
                <a:latin typeface="Aptos"/>
              </a:rPr>
              <a:t>Final conclusion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51960"/>
            <a:ext cx="10241280" cy="105156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/>
            <a:r>
              <a:rPr sz="1300"/>
              <a:t>With the available data, Aplazaloh should manage sales through two levers: maximize effective commercial conversation and reduce unnecessary ACW without compromising registration quality. The final simple model is clear, strong, and actionable.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92240"/>
            <a:ext cx="51206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850" b="0">
                <a:solidFill>
                  <a:srgbClr val="5A6673"/>
                </a:solidFill>
                <a:latin typeface="Aptos"/>
              </a:rPr>
              <a:t>Aplazaloh Campaign | Operational linear regression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5A6673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